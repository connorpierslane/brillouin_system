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Relationship Id="rId6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11155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21295C"/>
                </a:solidFill>
                <a:latin typeface="Cambria"/>
              </a:rPr>
              <a:t>Why a plain fit is biased at high NA — and how we correct 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932688"/>
            <a:ext cx="11155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0" i="1">
                <a:solidFill>
                  <a:srgbClr val="5A6672"/>
                </a:solidFill>
                <a:latin typeface="Calibri"/>
              </a:rPr>
              <a:t>NA-integrated lineshape fit  ·  clear samples  ·  ballistic term of Mattarelli et al., ACS Photonics 9, 2087 (2022)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00200"/>
            <a:ext cx="5166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1C7293"/>
                </a:solidFill>
                <a:latin typeface="Calibri"/>
              </a:rPr>
              <a:t>THE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938528"/>
            <a:ext cx="51663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0" i="0">
                <a:solidFill>
                  <a:srgbClr val="21295C"/>
                </a:solidFill>
                <a:latin typeface="Calibri"/>
              </a:rPr>
              <a:t>A high-NA objective collects a </a:t>
            </a:r>
            <a:r>
              <a:rPr sz="1500" b="1" i="0">
                <a:solidFill>
                  <a:srgbClr val="21295C"/>
                </a:solidFill>
                <a:latin typeface="Calibri"/>
              </a:rPr>
              <a:t>cone</a:t>
            </a:r>
            <a:r>
              <a:rPr sz="1500" b="0" i="0">
                <a:solidFill>
                  <a:srgbClr val="21295C"/>
                </a:solidFill>
                <a:latin typeface="Calibri"/>
              </a:rPr>
              <a:t> of scattering directions around exact 180° backscatter. A ray at deviation angle </a:t>
            </a:r>
            <a:r>
              <a:rPr sz="1500" b="0" i="1">
                <a:solidFill>
                  <a:srgbClr val="21295C"/>
                </a:solidFill>
                <a:latin typeface="Calibri"/>
              </a:rPr>
              <a:t>v</a:t>
            </a:r>
            <a:r>
              <a:rPr sz="1500" b="0" i="0">
                <a:solidFill>
                  <a:srgbClr val="21295C"/>
                </a:solidFill>
                <a:latin typeface="Calibri"/>
              </a:rPr>
              <a:t> exchanges a smaller wavevector, so it resonates lower:</a:t>
            </a:r>
          </a:p>
        </p:txBody>
      </p:sp>
      <p:pic>
        <p:nvPicPr>
          <p:cNvPr id="6" name="Picture 5" descr="eq_phy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3225976"/>
            <a:ext cx="5166360" cy="40604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3977639"/>
            <a:ext cx="516636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0" i="0">
                <a:solidFill>
                  <a:srgbClr val="21295C"/>
                </a:solidFill>
                <a:latin typeface="Calibri"/>
              </a:rPr>
              <a:t>Every collected ray sits </a:t>
            </a:r>
            <a:r>
              <a:rPr sz="1500" b="1" i="0">
                <a:solidFill>
                  <a:srgbClr val="21295C"/>
                </a:solidFill>
                <a:latin typeface="Calibri"/>
              </a:rPr>
              <a:t>at or below</a:t>
            </a:r>
            <a:r>
              <a:rPr sz="1500" b="0" i="0">
                <a:solidFill>
                  <a:srgbClr val="21295C"/>
                </a:solidFill>
                <a:latin typeface="Calibri"/>
              </a:rPr>
              <a:t> f</a:t>
            </a:r>
            <a:r>
              <a:rPr sz="1000" b="0" i="0">
                <a:solidFill>
                  <a:srgbClr val="21295C"/>
                </a:solidFill>
                <a:latin typeface="Calibri"/>
              </a:rPr>
              <a:t>180</a:t>
            </a:r>
            <a:r>
              <a:rPr sz="1500" b="0" i="0">
                <a:solidFill>
                  <a:srgbClr val="21295C"/>
                </a:solidFill>
                <a:latin typeface="Calibri"/>
              </a:rPr>
              <a:t>. The recorded peak is a weighted </a:t>
            </a:r>
            <a:r>
              <a:rPr sz="1500" b="1" i="0">
                <a:solidFill>
                  <a:srgbClr val="065A82"/>
                </a:solidFill>
                <a:latin typeface="Calibri"/>
              </a:rPr>
              <a:t>superposition</a:t>
            </a:r>
            <a:r>
              <a:rPr sz="1500" b="0" i="0">
                <a:solidFill>
                  <a:srgbClr val="21295C"/>
                </a:solidFill>
                <a:latin typeface="Calibri"/>
              </a:rPr>
              <a:t> of these sub-peaks — so a symmetric fit lands </a:t>
            </a:r>
            <a:r>
              <a:rPr sz="1500" b="1" i="0">
                <a:solidFill>
                  <a:srgbClr val="21295C"/>
                </a:solidFill>
                <a:latin typeface="Calibri"/>
              </a:rPr>
              <a:t>below</a:t>
            </a:r>
            <a:r>
              <a:rPr sz="1500" b="0" i="0">
                <a:solidFill>
                  <a:srgbClr val="21295C"/>
                </a:solidFill>
                <a:latin typeface="Calibri"/>
              </a:rPr>
              <a:t> the true shift and the peak is skewed.</a:t>
            </a:r>
          </a:p>
        </p:txBody>
      </p:sp>
      <p:pic>
        <p:nvPicPr>
          <p:cNvPr id="8" name="Picture 7" descr="superposi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92591" y="1188720"/>
            <a:ext cx="6245616" cy="3749039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02920" y="5806440"/>
            <a:ext cx="11183112" cy="749808"/>
          </a:xfrm>
          <a:prstGeom prst="roundRect">
            <a:avLst>
              <a:gd name="adj" fmla="val 9000"/>
            </a:avLst>
          </a:prstGeom>
          <a:solidFill>
            <a:srgbClr val="FBF4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77240" y="6089904"/>
            <a:ext cx="182880" cy="182880"/>
          </a:xfrm>
          <a:prstGeom prst="ellipse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5852160"/>
            <a:ext cx="1042416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E8A33D"/>
                </a:solidFill>
                <a:latin typeface="Calibri"/>
              </a:rPr>
              <a:t>The fix:  </a:t>
            </a:r>
            <a:r>
              <a:rPr sz="1550" b="0" i="0">
                <a:solidFill>
                  <a:srgbClr val="21295C"/>
                </a:solidFill>
                <a:latin typeface="Calibri"/>
              </a:rPr>
              <a:t>fit the superposition directly. The fitted peak centre returns </a:t>
            </a:r>
            <a:r>
              <a:rPr sz="1550" b="1" i="0">
                <a:solidFill>
                  <a:srgbClr val="21295C"/>
                </a:solidFill>
                <a:latin typeface="Calibri"/>
              </a:rPr>
              <a:t>f</a:t>
            </a:r>
            <a:r>
              <a:rPr sz="1000" b="1" i="0">
                <a:solidFill>
                  <a:srgbClr val="21295C"/>
                </a:solidFill>
                <a:latin typeface="Calibri"/>
              </a:rPr>
              <a:t>180</a:t>
            </a:r>
            <a:r>
              <a:rPr sz="1550" b="0" i="0">
                <a:solidFill>
                  <a:srgbClr val="21295C"/>
                </a:solidFill>
                <a:latin typeface="Calibri"/>
              </a:rPr>
              <a:t> — the true 180° shift — as a free parameter.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11155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21295C"/>
                </a:solidFill>
                <a:latin typeface="Cambria"/>
              </a:rPr>
              <a:t>The NA-integrated lineshape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932688"/>
            <a:ext cx="11155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0" i="1">
                <a:solidFill>
                  <a:srgbClr val="5A6672"/>
                </a:solidFill>
                <a:latin typeface="Calibri"/>
              </a:rPr>
              <a:t>Each sub-peak is a Lorentzian core; the NA cone is carried entirely by the collection kernel, so the fitted γ stays the intrinsic width.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371600"/>
            <a:ext cx="11183112" cy="1481328"/>
          </a:xfrm>
          <a:prstGeom prst="roundRect">
            <a:avLst>
              <a:gd name="adj" fmla="val 9000"/>
            </a:avLst>
          </a:prstGeom>
          <a:solidFill>
            <a:srgbClr val="F1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81328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1C7293"/>
                </a:solidFill>
                <a:latin typeface="Calibri"/>
              </a:rPr>
              <a:t>MODEL</a:t>
            </a:r>
          </a:p>
        </p:txBody>
      </p:sp>
      <p:pic>
        <p:nvPicPr>
          <p:cNvPr id="6" name="Picture 5" descr="eq_ma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82342" y="1755648"/>
            <a:ext cx="5276995" cy="9144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1520" y="1847088"/>
            <a:ext cx="2880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 i="1">
                <a:solidFill>
                  <a:srgbClr val="5A6672"/>
                </a:solidFill>
                <a:latin typeface="Calibri"/>
              </a:rPr>
              <a:t>the kernel average is normalized by ∫W dv;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 i="1">
                <a:solidFill>
                  <a:srgbClr val="5A6672"/>
                </a:solidFill>
                <a:latin typeface="Calibri"/>
              </a:rPr>
              <a:t>the offset is added </a:t>
            </a:r>
            <a:r>
              <a:rPr sz="1100" b="1" i="1">
                <a:solidFill>
                  <a:srgbClr val="5A6672"/>
                </a:solidFill>
                <a:latin typeface="Calibri"/>
              </a:rPr>
              <a:t>outside</a:t>
            </a:r>
            <a:r>
              <a:rPr sz="1100" b="0" i="1">
                <a:solidFill>
                  <a:srgbClr val="5A6672"/>
                </a:solidFill>
                <a:latin typeface="Calibri"/>
              </a:rPr>
              <a:t> it — the flat background is never rescaled.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3127248"/>
            <a:ext cx="3520440" cy="1874519"/>
          </a:xfrm>
          <a:prstGeom prst="roundRect">
            <a:avLst>
              <a:gd name="adj" fmla="val 9000"/>
            </a:avLst>
          </a:prstGeom>
          <a:solidFill>
            <a:srgbClr val="F1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334256" y="3127248"/>
            <a:ext cx="3520440" cy="1874519"/>
          </a:xfrm>
          <a:prstGeom prst="roundRect">
            <a:avLst>
              <a:gd name="adj" fmla="val 9000"/>
            </a:avLst>
          </a:prstGeom>
          <a:solidFill>
            <a:srgbClr val="F1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165592" y="3127248"/>
            <a:ext cx="3520440" cy="1874519"/>
          </a:xfrm>
          <a:prstGeom prst="roundRect">
            <a:avLst>
              <a:gd name="adj" fmla="val 9000"/>
            </a:avLst>
          </a:prstGeom>
          <a:solidFill>
            <a:srgbClr val="F1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8952" y="3328416"/>
            <a:ext cx="300837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50" b="1" i="0">
                <a:solidFill>
                  <a:srgbClr val="065A82"/>
                </a:solidFill>
                <a:latin typeface="Calibri"/>
              </a:rPr>
              <a:t>α  —  aperture half-angle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90288" y="3328416"/>
            <a:ext cx="300837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50" b="1" i="0">
                <a:solidFill>
                  <a:srgbClr val="065A82"/>
                </a:solidFill>
                <a:latin typeface="Calibri"/>
              </a:rPr>
              <a:t>R  —  elastic anchor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21624" y="3328416"/>
            <a:ext cx="300837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50" b="1" i="0">
                <a:solidFill>
                  <a:srgbClr val="065A82"/>
                </a:solidFill>
                <a:latin typeface="Calibri"/>
              </a:rPr>
              <a:t>W(v)  —  collection weight</a:t>
            </a:r>
          </a:p>
        </p:txBody>
      </p:sp>
      <p:pic>
        <p:nvPicPr>
          <p:cNvPr id="14" name="Picture 13" descr="eq_alph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3044" y="3776472"/>
            <a:ext cx="2160191" cy="566928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58952" y="4425696"/>
            <a:ext cx="300837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21295C"/>
                </a:solidFill>
                <a:latin typeface="Calibri"/>
              </a:rPr>
              <a:t>from the objective NA and sample index </a:t>
            </a:r>
            <a:r>
              <a:rPr sz="1250" b="0" i="1">
                <a:solidFill>
                  <a:srgbClr val="21295C"/>
                </a:solidFill>
                <a:latin typeface="Calibri"/>
              </a:rPr>
              <a:t>n</a:t>
            </a:r>
            <a:r>
              <a:rPr sz="1250" b="0" i="0">
                <a:solidFill>
                  <a:srgbClr val="21295C"/>
                </a:solidFill>
                <a:latin typeface="Calibri"/>
              </a:rPr>
              <a:t>  (Snell).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90288" y="3803904"/>
            <a:ext cx="3008376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21295C"/>
                </a:solidFill>
                <a:latin typeface="Calibri"/>
              </a:rPr>
              <a:t>zero-GHz root of each peak's calibration polynomial, by Newton iteration — one per order (</a:t>
            </a:r>
            <a:r>
              <a:rPr sz="1250" b="0" i="1">
                <a:solidFill>
                  <a:srgbClr val="21295C"/>
                </a:solidFill>
                <a:latin typeface="Calibri"/>
              </a:rPr>
              <a:t>R</a:t>
            </a:r>
            <a:r>
              <a:rPr sz="850" b="0" i="1">
                <a:solidFill>
                  <a:srgbClr val="21295C"/>
                </a:solidFill>
                <a:latin typeface="Calibri"/>
              </a:rPr>
              <a:t>left</a:t>
            </a:r>
            <a:r>
              <a:rPr sz="1250" b="0" i="0">
                <a:solidFill>
                  <a:srgbClr val="21295C"/>
                </a:solidFill>
                <a:latin typeface="Calibri"/>
              </a:rPr>
              <a:t>, </a:t>
            </a:r>
            <a:r>
              <a:rPr sz="1250" b="0" i="1">
                <a:solidFill>
                  <a:srgbClr val="21295C"/>
                </a:solidFill>
                <a:latin typeface="Calibri"/>
              </a:rPr>
              <a:t>R</a:t>
            </a:r>
            <a:r>
              <a:rPr sz="850" b="0" i="1">
                <a:solidFill>
                  <a:srgbClr val="21295C"/>
                </a:solidFill>
                <a:latin typeface="Calibri"/>
              </a:rPr>
              <a:t>right</a:t>
            </a:r>
            <a:r>
              <a:rPr sz="1250" b="0" i="0">
                <a:solidFill>
                  <a:srgbClr val="21295C"/>
                </a:solidFill>
                <a:latin typeface="Calibri"/>
              </a:rPr>
              <a:t>). A fixed input, not fitted.</a:t>
            </a:r>
          </a:p>
        </p:txBody>
      </p:sp>
      <p:pic>
        <p:nvPicPr>
          <p:cNvPr id="17" name="Picture 16" descr="eq_weigh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94192" y="3889294"/>
            <a:ext cx="3063240" cy="304706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8421624" y="4352544"/>
            <a:ext cx="3008376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21295C"/>
                </a:solidFill>
                <a:latin typeface="Calibri"/>
              </a:rPr>
              <a:t>uniform pupil, </a:t>
            </a:r>
            <a:r>
              <a:rPr sz="1250" b="0" i="1">
                <a:solidFill>
                  <a:srgbClr val="21295C"/>
                </a:solidFill>
                <a:latin typeface="Calibri"/>
              </a:rPr>
              <a:t>or</a:t>
            </a:r>
            <a:r>
              <a:rPr sz="1250" b="0" i="0">
                <a:solidFill>
                  <a:srgbClr val="21295C"/>
                </a:solidFill>
                <a:latin typeface="Calibri"/>
              </a:rPr>
              <a:t> Gaussian fibre-coupling — </a:t>
            </a:r>
            <a:r>
              <a:rPr sz="1250" b="1" i="0">
                <a:solidFill>
                  <a:srgbClr val="1C7293"/>
                </a:solidFill>
                <a:latin typeface="Calibri"/>
              </a:rPr>
              <a:t>the complete model</a:t>
            </a:r>
            <a:r>
              <a:rPr sz="1250" b="0" i="0">
                <a:solidFill>
                  <a:srgbClr val="21295C"/>
                </a:solidFill>
                <a:latin typeface="Calibri"/>
              </a:rPr>
              <a:t> (session-calibrated on water).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5138928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50" b="1" i="0">
                <a:solidFill>
                  <a:srgbClr val="1C7293"/>
                </a:solidFill>
                <a:latin typeface="Calibri"/>
              </a:rPr>
              <a:t>SUB-PEAK POSITION</a:t>
            </a:r>
          </a:p>
        </p:txBody>
      </p:sp>
      <p:pic>
        <p:nvPicPr>
          <p:cNvPr id="20" name="Picture 19" descr="eq_sub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4360" y="5492454"/>
            <a:ext cx="4663440" cy="499954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548640" y="6053328"/>
            <a:ext cx="4846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A6672"/>
                </a:solidFill>
                <a:latin typeface="Calibri"/>
              </a:rPr>
              <a:t>slides from centre </a:t>
            </a:r>
            <a:r>
              <a:rPr sz="1150" b="0" i="1">
                <a:solidFill>
                  <a:srgbClr val="5A6672"/>
                </a:solidFill>
                <a:latin typeface="Calibri"/>
              </a:rPr>
              <a:t>c</a:t>
            </a:r>
            <a:r>
              <a:rPr sz="1150" b="0" i="0">
                <a:solidFill>
                  <a:srgbClr val="5A6672"/>
                </a:solidFill>
                <a:latin typeface="Calibri"/>
              </a:rPr>
              <a:t> toward the elastic order </a:t>
            </a:r>
            <a:r>
              <a:rPr sz="1150" b="0" i="1">
                <a:solidFill>
                  <a:srgbClr val="5A6672"/>
                </a:solidFill>
                <a:latin typeface="Calibri"/>
              </a:rPr>
              <a:t>R</a:t>
            </a:r>
            <a:r>
              <a:rPr sz="1150" b="0" i="0">
                <a:solidFill>
                  <a:srgbClr val="5A6672"/>
                </a:solidFill>
                <a:latin typeface="Calibri"/>
              </a:rPr>
              <a:t> as v grows.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806440" y="5029200"/>
            <a:ext cx="5879592" cy="1508760"/>
          </a:xfrm>
          <a:prstGeom prst="roundRect">
            <a:avLst>
              <a:gd name="adj" fmla="val 9000"/>
            </a:avLst>
          </a:prstGeom>
          <a:solidFill>
            <a:srgbClr val="FBF4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035040" y="5138928"/>
            <a:ext cx="5394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50" b="1" i="0">
                <a:solidFill>
                  <a:srgbClr val="E8A33D"/>
                </a:solidFill>
                <a:latin typeface="Calibri"/>
              </a:rPr>
              <a:t>WHAT COMES OUT  —  7 free parameters</a:t>
            </a:r>
          </a:p>
        </p:txBody>
      </p:sp>
      <p:pic>
        <p:nvPicPr>
          <p:cNvPr id="24" name="Picture 23" descr="eq_param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26480" y="5426026"/>
            <a:ext cx="5212080" cy="449931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6035040" y="5943600"/>
            <a:ext cx="5440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1">
                <a:solidFill>
                  <a:srgbClr val="21295C"/>
                </a:solidFill>
                <a:latin typeface="Calibri"/>
              </a:rPr>
              <a:t>c</a:t>
            </a:r>
            <a:r>
              <a:rPr sz="1200" b="1" i="0">
                <a:solidFill>
                  <a:srgbClr val="21295C"/>
                </a:solidFill>
                <a:latin typeface="Calibri"/>
              </a:rPr>
              <a:t>₁, </a:t>
            </a:r>
            <a:r>
              <a:rPr sz="1200" b="1" i="1">
                <a:solidFill>
                  <a:srgbClr val="21295C"/>
                </a:solidFill>
                <a:latin typeface="Calibri"/>
              </a:rPr>
              <a:t>c</a:t>
            </a:r>
            <a:r>
              <a:rPr sz="1200" b="1" i="0">
                <a:solidFill>
                  <a:srgbClr val="21295C"/>
                </a:solidFill>
                <a:latin typeface="Calibri"/>
              </a:rPr>
              <a:t>₂ </a:t>
            </a:r>
            <a:r>
              <a:rPr sz="1200" b="0" i="0">
                <a:solidFill>
                  <a:srgbClr val="21295C"/>
                </a:solidFill>
                <a:latin typeface="Calibri"/>
              </a:rPr>
              <a:t>are the true 180° positions — stored in the normal centre fields, so they flow through the standard shift/distance → GHz pipeline with no NA-specific branch.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113385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21295C"/>
                </a:solidFill>
                <a:latin typeface="Cambria"/>
              </a:rPr>
              <a:t>In practice: the pixel-space equation the code fits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932688"/>
            <a:ext cx="113385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0" i="1">
                <a:solidFill>
                  <a:srgbClr val="5A6672"/>
                </a:solidFill>
                <a:latin typeface="Calibri"/>
              </a:rPr>
              <a:t>Slide 2's integral, discretized on a 41-node quadrature grid and integrated over each pixel — the actual compute path (</a:t>
            </a:r>
            <a:r>
              <a:rPr sz="1250" b="0" i="0">
                <a:solidFill>
                  <a:srgbClr val="5A6672"/>
                </a:solidFill>
                <a:latin typeface="Consolas"/>
              </a:rPr>
              <a:t>make_2na_lorentzian_binned</a:t>
            </a:r>
            <a:r>
              <a:rPr sz="1250" b="0" i="1">
                <a:solidFill>
                  <a:srgbClr val="5A6672"/>
                </a:solidFill>
                <a:latin typeface="Calibri"/>
              </a:rPr>
              <a:t>).</a:t>
            </a:r>
          </a:p>
        </p:txBody>
      </p:sp>
      <p:sp>
        <p:nvSpPr>
          <p:cNvPr id="4" name="Oval 3"/>
          <p:cNvSpPr/>
          <p:nvPr/>
        </p:nvSpPr>
        <p:spPr>
          <a:xfrm>
            <a:off x="640080" y="1417320"/>
            <a:ext cx="402336" cy="402336"/>
          </a:xfrm>
          <a:prstGeom prst="ellipse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43584" y="1389888"/>
            <a:ext cx="100584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065A82"/>
                </a:solidFill>
                <a:latin typeface="Calibri"/>
              </a:rPr>
              <a:t>QUADRATURE GRID   ·   41 nodes across the collection cone</a:t>
            </a:r>
          </a:p>
        </p:txBody>
      </p:sp>
      <p:pic>
        <p:nvPicPr>
          <p:cNvPr id="6" name="Picture 5" descr="px_grid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3565" y="1856231"/>
            <a:ext cx="8637270" cy="457200"/>
          </a:xfrm>
          <a:prstGeom prst="rect">
            <a:avLst/>
          </a:prstGeom>
        </p:spPr>
      </p:pic>
      <p:pic>
        <p:nvPicPr>
          <p:cNvPr id="7" name="Picture 6" descr="px_grid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31100" y="2313432"/>
            <a:ext cx="8282198" cy="45720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502920" y="2889504"/>
            <a:ext cx="11183112" cy="1371600"/>
          </a:xfrm>
          <a:prstGeom prst="roundRect">
            <a:avLst>
              <a:gd name="adj" fmla="val 9000"/>
            </a:avLst>
          </a:prstGeom>
          <a:solidFill>
            <a:srgbClr val="F1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77240" y="3035808"/>
            <a:ext cx="402336" cy="402336"/>
          </a:xfrm>
          <a:prstGeom prst="ellipse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80744" y="3008376"/>
            <a:ext cx="100584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065A82"/>
                </a:solidFill>
                <a:latin typeface="Calibri"/>
              </a:rPr>
              <a:t>PIXEL-AREA-INTEGRATED LORENTZIAN CORE   ·   per node</a:t>
            </a:r>
          </a:p>
        </p:txBody>
      </p:sp>
      <p:pic>
        <p:nvPicPr>
          <p:cNvPr id="11" name="Picture 10" descr="px_cor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17976" y="3493008"/>
            <a:ext cx="6962143" cy="658368"/>
          </a:xfrm>
          <a:prstGeom prst="rect">
            <a:avLst/>
          </a:prstGeom>
        </p:spPr>
      </p:pic>
      <p:sp>
        <p:nvSpPr>
          <p:cNvPr id="12" name="Oval 11"/>
          <p:cNvSpPr/>
          <p:nvPr/>
        </p:nvSpPr>
        <p:spPr>
          <a:xfrm>
            <a:off x="640080" y="4443984"/>
            <a:ext cx="402336" cy="402336"/>
          </a:xfrm>
          <a:prstGeom prst="ellipse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43584" y="4416552"/>
            <a:ext cx="100584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065A82"/>
                </a:solidFill>
                <a:latin typeface="Calibri"/>
              </a:rPr>
              <a:t>WEIGHTED AVERAGE OVER THE CONE   ·   one peak</a:t>
            </a:r>
          </a:p>
        </p:txBody>
      </p:sp>
      <p:pic>
        <p:nvPicPr>
          <p:cNvPr id="14" name="Picture 13" descr="px_pea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87006" y="4764024"/>
            <a:ext cx="3672707" cy="566928"/>
          </a:xfrm>
          <a:prstGeom prst="rect">
            <a:avLst/>
          </a:prstGeom>
        </p:spPr>
      </p:pic>
      <p:sp>
        <p:nvSpPr>
          <p:cNvPr id="15" name="Oval 14"/>
          <p:cNvSpPr/>
          <p:nvPr/>
        </p:nvSpPr>
        <p:spPr>
          <a:xfrm>
            <a:off x="640080" y="5440680"/>
            <a:ext cx="402336" cy="402336"/>
          </a:xfrm>
          <a:prstGeom prst="ellipse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43584" y="5413248"/>
            <a:ext cx="100584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065A82"/>
                </a:solidFill>
                <a:latin typeface="Calibri"/>
              </a:rPr>
              <a:t>FULL TWO-PEAK MODEL   ·   7 free parameters</a:t>
            </a:r>
          </a:p>
        </p:txBody>
      </p:sp>
      <p:pic>
        <p:nvPicPr>
          <p:cNvPr id="17" name="Picture 16" descr="px_ful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6768" y="5833872"/>
            <a:ext cx="10224559" cy="438912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7452360" y="4718304"/>
            <a:ext cx="420624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A6672"/>
                </a:solidFill>
                <a:latin typeface="Calibri"/>
              </a:rPr>
              <a:t>Same arctan core as the plain 2-Lorentzian, so amplitudes and widths stay directly comparable — the whole NA correction lives inside </a:t>
            </a:r>
            <a:r>
              <a:rPr sz="1200" b="0" i="1">
                <a:solidFill>
                  <a:srgbClr val="5A6672"/>
                </a:solidFill>
                <a:latin typeface="Calibri"/>
              </a:rPr>
              <a:t>x</a:t>
            </a:r>
            <a:r>
              <a:rPr sz="800" b="0" i="1">
                <a:solidFill>
                  <a:srgbClr val="5A6672"/>
                </a:solidFill>
                <a:latin typeface="Calibri"/>
              </a:rPr>
              <a:t>sub</a:t>
            </a:r>
            <a:r>
              <a:rPr sz="1200" b="0" i="0">
                <a:solidFill>
                  <a:srgbClr val="5A6672"/>
                </a:solidFill>
                <a:latin typeface="Calibri"/>
              </a:rPr>
              <a:t>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